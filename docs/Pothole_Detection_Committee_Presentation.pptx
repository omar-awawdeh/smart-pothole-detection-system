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CCFAB59-2CAD-485D-92D4-9635F9A335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72A6218-DC30-4CF6-BE0B-32033DD189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nth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5DF52A-D516-49E2-BAFD-F09E644E45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711DF44-B4EA-4A30-9E11-B1332094D3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0D193D3-703C-4677-B31F-17912A878C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A0F59AE-4613-4CF7-94A3-0CC27E286A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914C415-6661-4BE3-B32C-4BB6C02483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C8E9E9-B0B6-45AA-B223-D1CCC3CC35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E96A52A-3178-4194-A160-01F6660D71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A00EC5F-D9D0-4C51-8183-701BCA1013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85955B-0F0E-466A-BF63-7279F4EEBA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33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6172200"/>
            <a:ext cx="12191040" cy="685080"/>
          </a:xfrm>
          <a:prstGeom prst="rect">
            <a:avLst/>
          </a:prstGeom>
          <a:solidFill>
            <a:srgbClr val="e76f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594360" y="5029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Smart Pothole Detection System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621720" y="11156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Graduation Project Committee Presentation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640080" y="1828800"/>
            <a:ext cx="59428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Computer Engineering - Yarmouk University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Team Members: Omar Awawdeh, Hamza Al-Safi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Academic Year: 2025-2026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Committee Presentation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0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594360" y="5029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c334d"/>
                </a:solidFill>
                <a:effectLst/>
                <a:uFillTx/>
                <a:latin typeface="Aptos Display"/>
              </a:rPr>
              <a:t>Problem Statement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621720" y="11156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b7a"/>
                </a:solidFill>
                <a:effectLst/>
                <a:uFillTx/>
                <a:latin typeface="Aptos"/>
              </a:rPr>
              <a:t>Why a smart pothole monitoring workflow is needed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731520" y="1554480"/>
            <a:ext cx="557712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Manual road inspection is slow, costly, and difficult to keep up-to-date across large areas.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Potholes create safety risks, vehicle damage, and higher maintenance costs when they are reported late.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Citizens may report issues, but reports are often inconsistent, duplicated, or missing precise location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Road authorities need timely, GPS-tagged evidence to prioritize maintenance more effectively.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5"/>
          <p:cNvSpPr/>
          <p:nvPr/>
        </p:nvSpPr>
        <p:spPr>
          <a:xfrm>
            <a:off x="6583680" y="1828800"/>
            <a:ext cx="4754160" cy="182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6748200" y="1938600"/>
            <a:ext cx="4479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Core Idea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 rot="21590400">
            <a:off x="6750000" y="2233080"/>
            <a:ext cx="4681440" cy="12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 a smartphone camera and on-device AI to detect potholes in real time, attach GPS coordinates,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and send structured reports to a central dashboard for verification and tracking.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8"/>
          <p:cNvSpPr/>
          <p:nvPr/>
        </p:nvSpPr>
        <p:spPr>
          <a:xfrm>
            <a:off x="6583680" y="3886200"/>
            <a:ext cx="4754160" cy="1736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9"/>
          <p:cNvSpPr/>
          <p:nvPr/>
        </p:nvSpPr>
        <p:spPr>
          <a:xfrm>
            <a:off x="6748200" y="3996000"/>
            <a:ext cx="4479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Why On Device?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6748200" y="4297680"/>
            <a:ext cx="4589640" cy="11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Lower latency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Works with limited connectivity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Lower bandwidth and cloud cost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Better privacy than streaming video to the cloud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0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594360" y="5029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c334d"/>
                </a:solidFill>
                <a:effectLst/>
                <a:uFillTx/>
                <a:latin typeface="Aptos Display"/>
              </a:rPr>
              <a:t>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621720" y="11156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b7a"/>
                </a:solidFill>
                <a:effectLst/>
                <a:uFillTx/>
                <a:latin typeface="Aptos"/>
              </a:rPr>
              <a:t>Target outcomes for the complete system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4"/>
          <p:cNvSpPr/>
          <p:nvPr/>
        </p:nvSpPr>
        <p:spPr>
          <a:xfrm>
            <a:off x="731520" y="1645920"/>
            <a:ext cx="2148120" cy="2925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896040" y="175572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Detect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896040" y="2057400"/>
            <a:ext cx="182808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Identify potholes from live camera frames in real time on Android.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7"/>
          <p:cNvSpPr/>
          <p:nvPr/>
        </p:nvSpPr>
        <p:spPr>
          <a:xfrm>
            <a:off x="3017520" y="1645920"/>
            <a:ext cx="2148120" cy="2925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3182040" y="175572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Locate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3182040" y="2057400"/>
            <a:ext cx="182808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Capture GPS coordinates for each valid detection.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0"/>
          <p:cNvSpPr/>
          <p:nvPr/>
        </p:nvSpPr>
        <p:spPr>
          <a:xfrm>
            <a:off x="5303520" y="1645920"/>
            <a:ext cx="2148120" cy="2925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5468040" y="175572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Report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5468040" y="2057400"/>
            <a:ext cx="182808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Upload structured reports with images and metadata to the backend.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3"/>
          <p:cNvSpPr/>
          <p:nvPr/>
        </p:nvSpPr>
        <p:spPr>
          <a:xfrm>
            <a:off x="7589520" y="1645920"/>
            <a:ext cx="2148120" cy="2925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14"/>
          <p:cNvSpPr/>
          <p:nvPr/>
        </p:nvSpPr>
        <p:spPr>
          <a:xfrm>
            <a:off x="7754040" y="175572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Visualize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5"/>
          <p:cNvSpPr/>
          <p:nvPr/>
        </p:nvSpPr>
        <p:spPr>
          <a:xfrm>
            <a:off x="7754040" y="2057400"/>
            <a:ext cx="182808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Provide a dashboard with map, records, and status management.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16"/>
          <p:cNvSpPr/>
          <p:nvPr/>
        </p:nvSpPr>
        <p:spPr>
          <a:xfrm>
            <a:off x="9875520" y="1645920"/>
            <a:ext cx="2148120" cy="2925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10040040" y="175572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Deploy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8"/>
          <p:cNvSpPr/>
          <p:nvPr/>
        </p:nvSpPr>
        <p:spPr>
          <a:xfrm>
            <a:off x="10040040" y="2057400"/>
            <a:ext cx="182808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Run the full system on a VPS with a production-style architecture.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9"/>
          <p:cNvSpPr/>
          <p:nvPr/>
        </p:nvSpPr>
        <p:spPr>
          <a:xfrm>
            <a:off x="914400" y="5074920"/>
            <a:ext cx="10332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c334d"/>
                </a:solidFill>
                <a:effectLst/>
                <a:uFillTx/>
                <a:latin typeface="Aptos"/>
              </a:rPr>
              <a:t>This project is designed as an end-to-end workflow, not only an isolated AI model.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0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594360" y="5029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c334d"/>
                </a:solidFill>
                <a:effectLst/>
                <a:uFillTx/>
                <a:latin typeface="Aptos Display"/>
              </a:rPr>
              <a:t>Proposed Solution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621720" y="11156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b7a"/>
                </a:solidFill>
                <a:effectLst/>
                <a:uFillTx/>
                <a:latin typeface="Aptos"/>
              </a:rPr>
              <a:t>End-to-end workflow from detection to maintenance visibility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4" descr="figure-1-high-level.png"/>
          <p:cNvPicPr/>
          <p:nvPr/>
        </p:nvPicPr>
        <p:blipFill>
          <a:blip r:embed="rId1"/>
          <a:stretch/>
        </p:blipFill>
        <p:spPr>
          <a:xfrm>
            <a:off x="640080" y="1936080"/>
            <a:ext cx="6720120" cy="380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Box 5"/>
          <p:cNvSpPr/>
          <p:nvPr/>
        </p:nvSpPr>
        <p:spPr>
          <a:xfrm>
            <a:off x="7543800" y="1783080"/>
            <a:ext cx="393120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Android app captures live frames and runs YOLOv8n through TensorFlow Lite.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Valid detections are filtered, geotagged, deduplicated locally, and queued for upload.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Backend stores pothole records in PostgreSQL/PostGIS and manages report lifecycle.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Dashboard allows authorities to review locations, images, and repair status.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ounded Rectangle 1"/>
          <p:cNvSpPr/>
          <p:nvPr/>
        </p:nvSpPr>
        <p:spPr>
          <a:xfrm>
            <a:off x="9986400" y="1662480"/>
            <a:ext cx="1919520" cy="338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0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594360" y="5029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c334d"/>
                </a:solidFill>
                <a:effectLst/>
                <a:uFillTx/>
                <a:latin typeface="Aptos Display"/>
              </a:rPr>
              <a:t>System Architecture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621720" y="11156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b7a"/>
                </a:solidFill>
                <a:effectLst/>
                <a:uFillTx/>
                <a:latin typeface="Aptos"/>
              </a:rPr>
              <a:t>Current implementation stack in the repository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4"/>
          <p:cNvSpPr/>
          <p:nvPr/>
        </p:nvSpPr>
        <p:spPr>
          <a:xfrm>
            <a:off x="659520" y="1662480"/>
            <a:ext cx="2148120" cy="338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824040" y="177228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Mobile Layer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6"/>
          <p:cNvSpPr/>
          <p:nvPr/>
        </p:nvSpPr>
        <p:spPr>
          <a:xfrm>
            <a:off x="824040" y="2073960"/>
            <a:ext cx="182808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Kotlin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Jetpack Compose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CameraX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TensorFlow Lite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GPS + WorkManager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7"/>
          <p:cNvSpPr/>
          <p:nvPr/>
        </p:nvSpPr>
        <p:spPr>
          <a:xfrm>
            <a:off x="2991240" y="1662480"/>
            <a:ext cx="2148120" cy="338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3155760" y="177228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AI Layer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9"/>
          <p:cNvSpPr/>
          <p:nvPr/>
        </p:nvSpPr>
        <p:spPr>
          <a:xfrm>
            <a:off x="3155760" y="2073960"/>
            <a:ext cx="182808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YOLOv8n object detector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Float16 TFLite export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Recall-tuned thresholds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0"/>
          <p:cNvSpPr/>
          <p:nvPr/>
        </p:nvSpPr>
        <p:spPr>
          <a:xfrm>
            <a:off x="5322960" y="1662480"/>
            <a:ext cx="2148120" cy="338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1"/>
          <p:cNvSpPr/>
          <p:nvPr/>
        </p:nvSpPr>
        <p:spPr>
          <a:xfrm>
            <a:off x="5487480" y="177228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Backend Layer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5487480" y="2073960"/>
            <a:ext cx="182808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ASP.NET Core 8 Web API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Entity Framework Core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REST endpoints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3"/>
          <p:cNvSpPr/>
          <p:nvPr/>
        </p:nvSpPr>
        <p:spPr>
          <a:xfrm>
            <a:off x="7654680" y="1662480"/>
            <a:ext cx="2148120" cy="338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14"/>
          <p:cNvSpPr/>
          <p:nvPr/>
        </p:nvSpPr>
        <p:spPr>
          <a:xfrm>
            <a:off x="7819200" y="1772280"/>
            <a:ext cx="1873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Data Layer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5"/>
          <p:cNvSpPr/>
          <p:nvPr/>
        </p:nvSpPr>
        <p:spPr>
          <a:xfrm>
            <a:off x="7819200" y="2073960"/>
            <a:ext cx="1828080" cy="28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PostgreSQL 16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PostGIS spatial support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Cloudflare R2 image storage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7"/>
          <p:cNvSpPr/>
          <p:nvPr/>
        </p:nvSpPr>
        <p:spPr>
          <a:xfrm>
            <a:off x="10150920" y="1772280"/>
            <a:ext cx="1142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Dashboard + Ops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8"/>
          <p:cNvSpPr/>
          <p:nvPr/>
        </p:nvSpPr>
        <p:spPr>
          <a:xfrm>
            <a:off x="10150920" y="2214000"/>
            <a:ext cx="1435320" cy="20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React + Vite + Tailwind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React Leaflet map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Docker Compose + NGINX on VPS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0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594360" y="5029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c334d"/>
                </a:solidFill>
                <a:effectLst/>
                <a:uFillTx/>
                <a:latin typeface="Aptos Display"/>
              </a:rPr>
              <a:t>AI Model and Dataset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621720" y="11156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b7a"/>
                </a:solidFill>
                <a:effectLst/>
                <a:uFillTx/>
                <a:latin typeface="Aptos"/>
              </a:rPr>
              <a:t>Why YOLOv8n is suitable for mobile pothole detection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777240" y="1554480"/>
            <a:ext cx="5623200" cy="23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Model: YOLOv8n (nano), selected for a strong speed/accuracy trade-off on mobile devices.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Dataset: 2,642 images and 9,077 labeled potholes collected from public datasets.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Data split: 80.5% train, 14.5% validation, 5.0% test.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Deployment format: float16 TFLite model, about 6 MB, suitable for Android packaging.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5"/>
          <p:cNvSpPr/>
          <p:nvPr/>
        </p:nvSpPr>
        <p:spPr>
          <a:xfrm>
            <a:off x="6720840" y="1645920"/>
            <a:ext cx="2239560" cy="1325160"/>
          </a:xfrm>
          <a:prstGeom prst="roundRect">
            <a:avLst>
              <a:gd name="adj" fmla="val 16667"/>
            </a:avLst>
          </a:prstGeom>
          <a:solidFill>
            <a:srgbClr val="1d6f8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6720840" y="184716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2,642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7"/>
          <p:cNvSpPr/>
          <p:nvPr/>
        </p:nvSpPr>
        <p:spPr>
          <a:xfrm>
            <a:off x="6720840" y="2395800"/>
            <a:ext cx="2239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Images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8"/>
          <p:cNvSpPr/>
          <p:nvPr/>
        </p:nvSpPr>
        <p:spPr>
          <a:xfrm>
            <a:off x="9144000" y="1645920"/>
            <a:ext cx="2239560" cy="1325160"/>
          </a:xfrm>
          <a:prstGeom prst="roundRect">
            <a:avLst>
              <a:gd name="adj" fmla="val 16667"/>
            </a:avLst>
          </a:prstGeom>
          <a:solidFill>
            <a:srgbClr val="0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9"/>
          <p:cNvSpPr/>
          <p:nvPr/>
        </p:nvSpPr>
        <p:spPr>
          <a:xfrm>
            <a:off x="9144000" y="184716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9,077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9144000" y="2395800"/>
            <a:ext cx="2239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Annotations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11"/>
          <p:cNvSpPr/>
          <p:nvPr/>
        </p:nvSpPr>
        <p:spPr>
          <a:xfrm>
            <a:off x="6720840" y="3246120"/>
            <a:ext cx="2239560" cy="132516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12"/>
          <p:cNvSpPr/>
          <p:nvPr/>
        </p:nvSpPr>
        <p:spPr>
          <a:xfrm>
            <a:off x="6720840" y="344736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~6 MB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3"/>
          <p:cNvSpPr/>
          <p:nvPr/>
        </p:nvSpPr>
        <p:spPr>
          <a:xfrm>
            <a:off x="6720840" y="3996000"/>
            <a:ext cx="2239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TFLite Size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14"/>
          <p:cNvSpPr/>
          <p:nvPr/>
        </p:nvSpPr>
        <p:spPr>
          <a:xfrm>
            <a:off x="9144000" y="3246120"/>
            <a:ext cx="2239560" cy="1325160"/>
          </a:xfrm>
          <a:prstGeom prst="roundRect">
            <a:avLst>
              <a:gd name="adj" fmla="val 16667"/>
            </a:avLst>
          </a:prstGeom>
          <a:solidFill>
            <a:srgbClr val="367a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5"/>
          <p:cNvSpPr/>
          <p:nvPr/>
        </p:nvSpPr>
        <p:spPr>
          <a:xfrm>
            <a:off x="9144000" y="344736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25-30 FPS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6"/>
          <p:cNvSpPr/>
          <p:nvPr/>
        </p:nvSpPr>
        <p:spPr>
          <a:xfrm>
            <a:off x="9144000" y="3996000"/>
            <a:ext cx="2239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Expected Mobile Speed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2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22"/>
          <p:cNvSpPr/>
          <p:nvPr/>
        </p:nvSpPr>
        <p:spPr>
          <a:xfrm>
            <a:off x="594360" y="502920"/>
            <a:ext cx="3204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0c334d"/>
                </a:solidFill>
                <a:effectLst/>
                <a:uFillTx/>
                <a:latin typeface="Aptos Display"/>
              </a:rPr>
              <a:t>AI Results Charts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3"/>
          <p:cNvSpPr/>
          <p:nvPr/>
        </p:nvSpPr>
        <p:spPr>
          <a:xfrm>
            <a:off x="621720" y="1115640"/>
            <a:ext cx="472536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5c6b7a"/>
                </a:solidFill>
                <a:effectLst/>
                <a:uFillTx/>
                <a:latin typeface="Aptos"/>
              </a:rPr>
              <a:t>Visual evidence from model evaluation and training history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3"/>
          <p:cNvSpPr/>
          <p:nvPr/>
        </p:nvSpPr>
        <p:spPr>
          <a:xfrm>
            <a:off x="731520" y="1600200"/>
            <a:ext cx="5303160" cy="95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1d6f8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24"/>
          <p:cNvSpPr/>
          <p:nvPr/>
        </p:nvSpPr>
        <p:spPr>
          <a:xfrm>
            <a:off x="824040" y="1674000"/>
            <a:ext cx="17125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Confusion Matrix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5"/>
          <p:cNvSpPr/>
          <p:nvPr/>
        </p:nvSpPr>
        <p:spPr>
          <a:xfrm>
            <a:off x="824040" y="1939680"/>
            <a:ext cx="52761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Shows how well the model separates pothole detection from background and errors.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6"/>
          <p:cNvSpPr/>
          <p:nvPr/>
        </p:nvSpPr>
        <p:spPr>
          <a:xfrm>
            <a:off x="6172200" y="1600200"/>
            <a:ext cx="5303160" cy="91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3970">
            <a:solidFill>
              <a:srgbClr val="1d6f8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6"/>
          <p:cNvSpPr/>
          <p:nvPr/>
        </p:nvSpPr>
        <p:spPr>
          <a:xfrm>
            <a:off x="6264720" y="1638000"/>
            <a:ext cx="1563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Training Curves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7"/>
          <p:cNvSpPr/>
          <p:nvPr/>
        </p:nvSpPr>
        <p:spPr>
          <a:xfrm>
            <a:off x="6264720" y="1939680"/>
            <a:ext cx="4983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Shows loss reduction and metric improvement during training, supporting model convergence.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"/>
          <p:cNvPicPr/>
          <p:nvPr/>
        </p:nvPicPr>
        <p:blipFill>
          <a:blip r:embed="rId1"/>
          <a:stretch/>
        </p:blipFill>
        <p:spPr>
          <a:xfrm>
            <a:off x="914400" y="2743200"/>
            <a:ext cx="4800600" cy="360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"/>
          <p:cNvPicPr/>
          <p:nvPr/>
        </p:nvPicPr>
        <p:blipFill>
          <a:blip r:embed="rId2"/>
          <a:stretch/>
        </p:blipFill>
        <p:spPr>
          <a:xfrm>
            <a:off x="6172200" y="3162240"/>
            <a:ext cx="5562360" cy="278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0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594360" y="502920"/>
            <a:ext cx="19483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c334d"/>
                </a:solidFill>
                <a:effectLst/>
                <a:uFillTx/>
                <a:latin typeface="Aptos Display"/>
              </a:rPr>
              <a:t>AI Results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621720" y="1115640"/>
            <a:ext cx="448848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b7a"/>
                </a:solidFill>
                <a:effectLst/>
                <a:uFillTx/>
                <a:latin typeface="Aptos"/>
              </a:rPr>
              <a:t>Best validation metrics and deployment operating point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4"/>
          <p:cNvSpPr/>
          <p:nvPr/>
        </p:nvSpPr>
        <p:spPr>
          <a:xfrm>
            <a:off x="839520" y="1636200"/>
            <a:ext cx="2239560" cy="1325160"/>
          </a:xfrm>
          <a:prstGeom prst="roundRect">
            <a:avLst>
              <a:gd name="adj" fmla="val 16667"/>
            </a:avLst>
          </a:prstGeom>
          <a:solidFill>
            <a:srgbClr val="0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1384560" y="1837440"/>
            <a:ext cx="11491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81.45%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1546920" y="2386080"/>
            <a:ext cx="824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mAP@50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7"/>
          <p:cNvSpPr/>
          <p:nvPr/>
        </p:nvSpPr>
        <p:spPr>
          <a:xfrm>
            <a:off x="3475080" y="1646280"/>
            <a:ext cx="2239560" cy="1325160"/>
          </a:xfrm>
          <a:prstGeom prst="roundRect">
            <a:avLst>
              <a:gd name="adj" fmla="val 16667"/>
            </a:avLst>
          </a:prstGeom>
          <a:solidFill>
            <a:srgbClr val="1d6f8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8"/>
          <p:cNvSpPr/>
          <p:nvPr/>
        </p:nvSpPr>
        <p:spPr>
          <a:xfrm>
            <a:off x="4020120" y="1847520"/>
            <a:ext cx="11491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52.13%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9"/>
          <p:cNvSpPr/>
          <p:nvPr/>
        </p:nvSpPr>
        <p:spPr>
          <a:xfrm>
            <a:off x="4070880" y="2396160"/>
            <a:ext cx="1047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mAP@50-95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0"/>
          <p:cNvSpPr/>
          <p:nvPr/>
        </p:nvSpPr>
        <p:spPr>
          <a:xfrm>
            <a:off x="6218280" y="1646280"/>
            <a:ext cx="2239560" cy="132516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1"/>
          <p:cNvSpPr/>
          <p:nvPr/>
        </p:nvSpPr>
        <p:spPr>
          <a:xfrm>
            <a:off x="6763320" y="1847520"/>
            <a:ext cx="11491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79.98%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2"/>
          <p:cNvSpPr/>
          <p:nvPr/>
        </p:nvSpPr>
        <p:spPr>
          <a:xfrm>
            <a:off x="6922800" y="2396160"/>
            <a:ext cx="8301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Precision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3"/>
          <p:cNvSpPr/>
          <p:nvPr/>
        </p:nvSpPr>
        <p:spPr>
          <a:xfrm>
            <a:off x="8961480" y="1636200"/>
            <a:ext cx="2239560" cy="1325160"/>
          </a:xfrm>
          <a:prstGeom prst="roundRect">
            <a:avLst>
              <a:gd name="adj" fmla="val 16667"/>
            </a:avLst>
          </a:prstGeom>
          <a:solidFill>
            <a:srgbClr val="367a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4"/>
          <p:cNvSpPr/>
          <p:nvPr/>
        </p:nvSpPr>
        <p:spPr>
          <a:xfrm>
            <a:off x="9506520" y="1837440"/>
            <a:ext cx="11491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75.90%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5"/>
          <p:cNvSpPr/>
          <p:nvPr/>
        </p:nvSpPr>
        <p:spPr>
          <a:xfrm>
            <a:off x="9781560" y="2386080"/>
            <a:ext cx="599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Recall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9"/>
          <p:cNvSpPr/>
          <p:nvPr/>
        </p:nvSpPr>
        <p:spPr>
          <a:xfrm>
            <a:off x="685800" y="3337560"/>
            <a:ext cx="10606320" cy="146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20"/>
          <p:cNvSpPr/>
          <p:nvPr/>
        </p:nvSpPr>
        <p:spPr>
          <a:xfrm>
            <a:off x="914400" y="3447360"/>
            <a:ext cx="1466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Interpretation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1"/>
          <p:cNvSpPr/>
          <p:nvPr/>
        </p:nvSpPr>
        <p:spPr>
          <a:xfrm>
            <a:off x="914400" y="3749040"/>
            <a:ext cx="1005552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tuned model keeps precision near 80% while reducing missed potholes.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trade-off is suitable for a field reporting system where missing defects is costly.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0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594360" y="5029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c334d"/>
                </a:solidFill>
                <a:effectLst/>
                <a:uFillTx/>
                <a:latin typeface="Aptos Display"/>
              </a:rPr>
              <a:t>Android Application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"/>
          <p:cNvSpPr/>
          <p:nvPr/>
        </p:nvSpPr>
        <p:spPr>
          <a:xfrm>
            <a:off x="621720" y="11156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b7a"/>
                </a:solidFill>
                <a:effectLst/>
                <a:uFillTx/>
                <a:latin typeface="Aptos"/>
              </a:rPr>
              <a:t>Main features implemented in the mobile app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4"/>
          <p:cNvSpPr/>
          <p:nvPr/>
        </p:nvSpPr>
        <p:spPr>
          <a:xfrm>
            <a:off x="731520" y="1600200"/>
            <a:ext cx="5485680" cy="42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Live camera preview with real-time pothole detection overlay.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On-device inference using TensorFlow Lite for low-latency performance.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GPS integration to tag each valid detection with location metadata.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History and settings screens for review and configuration.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Background upload queue for reliable synchronization when connectivity changes.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5"/>
          <p:cNvSpPr/>
          <p:nvPr/>
        </p:nvSpPr>
        <p:spPr>
          <a:xfrm>
            <a:off x="6583680" y="1639080"/>
            <a:ext cx="466272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6"/>
          <p:cNvSpPr/>
          <p:nvPr/>
        </p:nvSpPr>
        <p:spPr>
          <a:xfrm>
            <a:off x="6748200" y="174888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Engineering Focus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6748200" y="2050560"/>
            <a:ext cx="434268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Low latency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Offline-friendly flow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Mobile-first UX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Reliable upload behavior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8"/>
          <p:cNvSpPr/>
          <p:nvPr/>
        </p:nvSpPr>
        <p:spPr>
          <a:xfrm>
            <a:off x="6583680" y="3790800"/>
            <a:ext cx="466272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9"/>
          <p:cNvSpPr/>
          <p:nvPr/>
        </p:nvSpPr>
        <p:spPr>
          <a:xfrm>
            <a:off x="6748200" y="3900600"/>
            <a:ext cx="4388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Representative Screens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0"/>
          <p:cNvSpPr/>
          <p:nvPr/>
        </p:nvSpPr>
        <p:spPr>
          <a:xfrm>
            <a:off x="6748200" y="4202280"/>
            <a:ext cx="4342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Detection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History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Settings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Debug / verification support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0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594360" y="5029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c334d"/>
                </a:solidFill>
                <a:effectLst/>
                <a:uFillTx/>
                <a:latin typeface="Aptos Display"/>
              </a:rPr>
              <a:t>Backend and Dashboard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621720" y="11156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b7a"/>
                </a:solidFill>
                <a:effectLst/>
                <a:uFillTx/>
                <a:latin typeface="Aptos"/>
              </a:rPr>
              <a:t>How reports are stored, reviewed, and managed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Picture 4" descr="figure-3-dashboard.png"/>
          <p:cNvPicPr/>
          <p:nvPr/>
        </p:nvPicPr>
        <p:blipFill>
          <a:blip r:embed="rId1"/>
          <a:stretch/>
        </p:blipFill>
        <p:spPr>
          <a:xfrm>
            <a:off x="640080" y="1865520"/>
            <a:ext cx="6582960" cy="394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Box 5"/>
          <p:cNvSpPr/>
          <p:nvPr/>
        </p:nvSpPr>
        <p:spPr>
          <a:xfrm>
            <a:off x="7452360" y="1691640"/>
            <a:ext cx="4068360" cy="42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Backend uses ASP.NET Core 8 with PostgreSQL/PostGIS for API and spatial data handling.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Dashboard uses React, Vite, Tailwind, and React Leaflet for map-based monitoring.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Authorities can browse pothole records, inspect images, and update status such as verified or repaired.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Map view loads all pothole points and auto-fits bounds for easier monitoring.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6"/>
          <p:cNvSpPr/>
          <p:nvPr/>
        </p:nvSpPr>
        <p:spPr>
          <a:xfrm>
            <a:off x="0" y="0"/>
            <a:ext cx="12191400" cy="411120"/>
          </a:xfrm>
          <a:prstGeom prst="rect">
            <a:avLst/>
          </a:prstGeom>
          <a:solidFill>
            <a:srgbClr val="0c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594360" y="502920"/>
            <a:ext cx="31514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800" b="1" u="none" strike="noStrike">
                <a:solidFill>
                  <a:srgbClr val="0c334d"/>
                </a:solidFill>
                <a:effectLst/>
                <a:uFillTx/>
                <a:latin typeface="Aptos Display"/>
              </a:rPr>
              <a:t>Database Design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"/>
          <p:cNvPicPr/>
          <p:nvPr/>
        </p:nvPicPr>
        <p:blipFill>
          <a:blip r:embed="rId1"/>
          <a:stretch/>
        </p:blipFill>
        <p:spPr>
          <a:xfrm>
            <a:off x="2057400" y="1208880"/>
            <a:ext cx="8458200" cy="5191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0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594360" y="5029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c334d"/>
                </a:solidFill>
                <a:effectLst/>
                <a:uFillTx/>
                <a:latin typeface="Aptos Display"/>
              </a:rPr>
              <a:t>Deployment and Demo Readiness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3"/>
          <p:cNvSpPr/>
          <p:nvPr/>
        </p:nvSpPr>
        <p:spPr>
          <a:xfrm>
            <a:off x="621720" y="11156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b7a"/>
                </a:solidFill>
                <a:effectLst/>
                <a:uFillTx/>
                <a:latin typeface="Aptos"/>
              </a:rPr>
              <a:t>Production-style setup used for the integrated system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" name="Picture 4" descr="figure-4-deployment.png"/>
          <p:cNvPicPr/>
          <p:nvPr/>
        </p:nvPicPr>
        <p:blipFill>
          <a:blip r:embed="rId1"/>
          <a:stretch/>
        </p:blipFill>
        <p:spPr>
          <a:xfrm>
            <a:off x="640080" y="1886040"/>
            <a:ext cx="6171480" cy="390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Box 5"/>
          <p:cNvSpPr/>
          <p:nvPr/>
        </p:nvSpPr>
        <p:spPr>
          <a:xfrm>
            <a:off x="7132320" y="1691640"/>
            <a:ext cx="406836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System is deployed on a Linux VPS using Docker Compose and NGINX.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Dashboard domain: potholesystem.tech; API domain: api.potholesystem.tech.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PostgreSQL + PostGIS provides persistent geospatial storage.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Uploaded images can be served from Cloudflare R2 through a public image domain.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12191040" cy="410760"/>
          </a:xfrm>
          <a:prstGeom prst="rect">
            <a:avLst/>
          </a:prstGeom>
          <a:solidFill>
            <a:srgbClr val="0c33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2"/>
          <p:cNvSpPr/>
          <p:nvPr/>
        </p:nvSpPr>
        <p:spPr>
          <a:xfrm>
            <a:off x="594360" y="5029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c334d"/>
                </a:solidFill>
                <a:effectLst/>
                <a:uFillTx/>
                <a:latin typeface="Aptos Display"/>
              </a:rPr>
              <a:t>Limitations and Future Work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"/>
          <p:cNvSpPr/>
          <p:nvPr/>
        </p:nvSpPr>
        <p:spPr>
          <a:xfrm>
            <a:off x="621720" y="11156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c6b7a"/>
                </a:solidFill>
                <a:effectLst/>
                <a:uFillTx/>
                <a:latin typeface="Aptos"/>
              </a:rPr>
              <a:t>What can be improved after the current prototype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4"/>
          <p:cNvSpPr/>
          <p:nvPr/>
        </p:nvSpPr>
        <p:spPr>
          <a:xfrm>
            <a:off x="731520" y="1645920"/>
            <a:ext cx="5394240" cy="315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5"/>
          <p:cNvSpPr/>
          <p:nvPr/>
        </p:nvSpPr>
        <p:spPr>
          <a:xfrm>
            <a:off x="896040" y="1863720"/>
            <a:ext cx="1924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Current Limitations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6"/>
          <p:cNvSpPr/>
          <p:nvPr/>
        </p:nvSpPr>
        <p:spPr>
          <a:xfrm>
            <a:off x="896040" y="2148840"/>
            <a:ext cx="5074200" cy="29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Recall is improved but some potholes are still missed.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Training data is mostly public and may not fully match local Jordan roads.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Performance can vary with lighting, glare, weather, and motion blur.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Current model detects potholes only, without severity grading.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7"/>
          <p:cNvSpPr/>
          <p:nvPr/>
        </p:nvSpPr>
        <p:spPr>
          <a:xfrm>
            <a:off x="6374880" y="1600200"/>
            <a:ext cx="4982760" cy="3200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d6f8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8"/>
          <p:cNvSpPr/>
          <p:nvPr/>
        </p:nvSpPr>
        <p:spPr>
          <a:xfrm>
            <a:off x="6519600" y="1863720"/>
            <a:ext cx="470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d6f8d"/>
                </a:solidFill>
                <a:effectLst/>
                <a:uFillTx/>
                <a:latin typeface="Aptos"/>
              </a:rPr>
              <a:t>Future Work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9"/>
          <p:cNvSpPr/>
          <p:nvPr/>
        </p:nvSpPr>
        <p:spPr>
          <a:xfrm>
            <a:off x="6535440" y="2140200"/>
            <a:ext cx="4662720" cy="29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Collect local road data and fine-tune on regional conditions.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Add severity classification and other road-hazard classes.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Validate the tuned TFLite export more extensively on target devices.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Expand robustness for night-time and adverse weather conditions.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33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Box 1"/>
          <p:cNvSpPr/>
          <p:nvPr/>
        </p:nvSpPr>
        <p:spPr>
          <a:xfrm>
            <a:off x="594360" y="50292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Conclusion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621720" y="11156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An end-to-end AI-assisted road monitoring solution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822960" y="1600200"/>
            <a:ext cx="6400080" cy="34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The project delivers a complete workflow: detection, geotagging, reporting, storage, and dashboard monitoring.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The mobile AI model achieves acceptable results while remaining deployable on Android devices.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The integrated architecture demonstrates practical value for municipalities and road maintenance teams.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This work can be extended into a larger smart-city road condition monitoring platform.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4"/>
          <p:cNvSpPr/>
          <p:nvPr/>
        </p:nvSpPr>
        <p:spPr>
          <a:xfrm>
            <a:off x="7498080" y="2148840"/>
            <a:ext cx="3656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5b433"/>
                </a:solidFill>
                <a:effectLst/>
                <a:uFillTx/>
                <a:latin typeface="Aptos Display"/>
              </a:rPr>
              <a:t>Thank You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Questions and Discussion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LibreOffice/25.8.5.2$Linux_X86_64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2026-03-11T02:49:23Z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